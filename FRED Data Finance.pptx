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Roboto Bold" charset="1" panose="02000000000000000000"/>
      <p:regular r:id="rId10"/>
    </p:embeddedFont>
    <p:embeddedFont>
      <p:font typeface="Roboto" charset="1" panose="0200000000000000000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Relationship Id="rId8" Target="../media/image16.pn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2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184708" y="634055"/>
            <a:ext cx="6103292" cy="8155262"/>
          </a:xfrm>
          <a:custGeom>
            <a:avLst/>
            <a:gdLst/>
            <a:ahLst/>
            <a:cxnLst/>
            <a:rect r="r" b="b" t="t" l="l"/>
            <a:pathLst>
              <a:path h="8155262" w="6103292">
                <a:moveTo>
                  <a:pt x="0" y="0"/>
                </a:moveTo>
                <a:lnTo>
                  <a:pt x="6103292" y="0"/>
                </a:lnTo>
                <a:lnTo>
                  <a:pt x="6103292" y="8155263"/>
                </a:lnTo>
                <a:lnTo>
                  <a:pt x="0" y="81552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68096" y="1330558"/>
            <a:ext cx="9765792" cy="1204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25"/>
              </a:lnSpc>
            </a:pPr>
            <a:r>
              <a:rPr lang="en-US" sz="9025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API YANG DIPAKAI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68096" y="2747293"/>
            <a:ext cx="7754112" cy="1058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9"/>
              </a:lnSpc>
            </a:pPr>
            <a:r>
              <a:rPr lang="en-US" sz="349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Mengambil data resmi dan andal dari </a:t>
            </a:r>
            <a:r>
              <a:rPr lang="en-US" sz="3491">
                <a:solidFill>
                  <a:srgbClr val="007AFF"/>
                </a:solidFill>
                <a:latin typeface="Roboto"/>
                <a:ea typeface="Roboto"/>
                <a:cs typeface="Roboto"/>
                <a:sym typeface="Roboto"/>
              </a:rPr>
              <a:t>FRED</a:t>
            </a:r>
            <a:r>
              <a:rPr lang="en-US" sz="349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(Federal Reserve Economic Data)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45330" y="4285339"/>
            <a:ext cx="9592450" cy="1716322"/>
          </a:xfrm>
          <a:custGeom>
            <a:avLst/>
            <a:gdLst/>
            <a:ahLst/>
            <a:cxnLst/>
            <a:rect r="r" b="b" t="t" l="l"/>
            <a:pathLst>
              <a:path h="1716322" w="9592450">
                <a:moveTo>
                  <a:pt x="0" y="0"/>
                </a:moveTo>
                <a:lnTo>
                  <a:pt x="9592450" y="0"/>
                </a:lnTo>
                <a:lnTo>
                  <a:pt x="9592450" y="1716322"/>
                </a:lnTo>
                <a:lnTo>
                  <a:pt x="0" y="17163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60704" y="4836136"/>
            <a:ext cx="3145536" cy="537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85"/>
              </a:lnSpc>
            </a:pPr>
            <a:r>
              <a:rPr lang="en-US" sz="3985" spc="-79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Series: </a:t>
            </a:r>
            <a:r>
              <a:rPr lang="en-US" sz="3985" spc="-79" b="true">
                <a:solidFill>
                  <a:srgbClr val="007AFF"/>
                </a:solidFill>
                <a:latin typeface="Roboto Bold"/>
                <a:ea typeface="Roboto Bold"/>
                <a:cs typeface="Roboto Bold"/>
                <a:sym typeface="Roboto Bold"/>
              </a:rPr>
              <a:t>DGS10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4353244" y="4493047"/>
            <a:ext cx="218756" cy="1082267"/>
          </a:xfrm>
          <a:custGeom>
            <a:avLst/>
            <a:gdLst/>
            <a:ahLst/>
            <a:cxnLst/>
            <a:rect r="r" b="b" t="t" l="l"/>
            <a:pathLst>
              <a:path h="1082267" w="218756">
                <a:moveTo>
                  <a:pt x="0" y="0"/>
                </a:moveTo>
                <a:lnTo>
                  <a:pt x="218756" y="0"/>
                </a:lnTo>
                <a:lnTo>
                  <a:pt x="218756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956048" y="4706715"/>
            <a:ext cx="4773168" cy="700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214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Market Yield on U.S. Treasury</a:t>
            </a:r>
          </a:p>
          <a:p>
            <a:pPr algn="l">
              <a:lnSpc>
                <a:spcPts val="2790"/>
              </a:lnSpc>
            </a:pPr>
            <a:r>
              <a:rPr lang="en-US" sz="214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Securities at 10-Year Constant Maturity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68096" y="6216424"/>
            <a:ext cx="5102352" cy="2598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233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 ekonomi </a:t>
            </a:r>
            <a:r>
              <a:rPr lang="en-US" sz="2333">
                <a:solidFill>
                  <a:srgbClr val="007AFF"/>
                </a:solidFill>
                <a:latin typeface="Roboto"/>
                <a:ea typeface="Roboto"/>
                <a:cs typeface="Roboto"/>
                <a:sym typeface="Roboto"/>
              </a:rPr>
              <a:t>resmi</a:t>
            </a:r>
            <a:r>
              <a:rPr lang="en-US" sz="233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dan </a:t>
            </a:r>
            <a:r>
              <a:rPr lang="en-US" sz="2333">
                <a:solidFill>
                  <a:srgbClr val="007AFF"/>
                </a:solidFill>
                <a:latin typeface="Roboto"/>
                <a:ea typeface="Roboto"/>
                <a:cs typeface="Roboto"/>
                <a:sym typeface="Roboto"/>
              </a:rPr>
              <a:t>kredibel</a:t>
            </a:r>
          </a:p>
          <a:p>
            <a:pPr algn="l">
              <a:lnSpc>
                <a:spcPts val="4200"/>
              </a:lnSpc>
            </a:pPr>
            <a:r>
              <a:rPr lang="en-US" sz="2333">
                <a:solidFill>
                  <a:srgbClr val="007A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33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Histori data </a:t>
            </a:r>
            <a:r>
              <a:rPr lang="en-US" sz="2333">
                <a:solidFill>
                  <a:srgbClr val="007AFF"/>
                </a:solidFill>
                <a:latin typeface="Roboto"/>
                <a:ea typeface="Roboto"/>
                <a:cs typeface="Roboto"/>
                <a:sym typeface="Roboto"/>
              </a:rPr>
              <a:t>panjang</a:t>
            </a:r>
            <a:r>
              <a:rPr lang="en-US" sz="233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(sejak 1962)</a:t>
            </a:r>
          </a:p>
          <a:p>
            <a:pPr algn="l">
              <a:lnSpc>
                <a:spcPts val="4200"/>
              </a:lnSpc>
            </a:pPr>
            <a:r>
              <a:rPr lang="en-US" sz="233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Format </a:t>
            </a:r>
            <a:r>
              <a:rPr lang="en-US" sz="2333">
                <a:solidFill>
                  <a:srgbClr val="007AFF"/>
                </a:solidFill>
                <a:latin typeface="Roboto"/>
                <a:ea typeface="Roboto"/>
                <a:cs typeface="Roboto"/>
                <a:sym typeface="Roboto"/>
              </a:rPr>
              <a:t>ISOString</a:t>
            </a:r>
            <a:r>
              <a:rPr lang="en-US" sz="233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rapi dan </a:t>
            </a:r>
            <a:r>
              <a:rPr lang="en-US" sz="2333">
                <a:solidFill>
                  <a:srgbClr val="007AFF"/>
                </a:solidFill>
                <a:latin typeface="Roboto"/>
                <a:ea typeface="Roboto"/>
                <a:cs typeface="Roboto"/>
                <a:sym typeface="Roboto"/>
              </a:rPr>
              <a:t>mudah diolah</a:t>
            </a:r>
          </a:p>
          <a:p>
            <a:pPr algn="l">
              <a:lnSpc>
                <a:spcPts val="4200"/>
              </a:lnSpc>
            </a:pPr>
            <a:r>
              <a:rPr lang="en-US" sz="233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API key </a:t>
            </a:r>
            <a:r>
              <a:rPr lang="en-US" sz="2333">
                <a:solidFill>
                  <a:srgbClr val="007AFF"/>
                </a:solidFill>
                <a:latin typeface="Roboto"/>
                <a:ea typeface="Roboto"/>
                <a:cs typeface="Roboto"/>
                <a:sym typeface="Roboto"/>
              </a:rPr>
              <a:t>gratis</a:t>
            </a:r>
            <a:r>
              <a:rPr lang="en-US" sz="233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, langsung aktif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76656" y="909262"/>
            <a:ext cx="6803136" cy="981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09"/>
              </a:lnSpc>
            </a:pPr>
            <a:r>
              <a:rPr lang="en-US" sz="634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STRUKTUR CLASS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49808" y="2220209"/>
            <a:ext cx="5596128" cy="1002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8"/>
              </a:lnSpc>
            </a:pPr>
            <a:r>
              <a:rPr lang="en-US" sz="323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Struktur class untuk akses dan pengambilan data FRED.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86384" y="4160853"/>
            <a:ext cx="5852160" cy="392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4"/>
              </a:lnSpc>
            </a:pPr>
            <a:r>
              <a:rPr lang="en-US" sz="255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Menyimpan API key dan endpoint FRED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86384" y="5023961"/>
            <a:ext cx="5815584" cy="774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4"/>
              </a:lnSpc>
            </a:pPr>
            <a:r>
              <a:rPr lang="en-US" sz="255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Mengambil data berdasarkan series_id dan observation_date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86384" y="6249114"/>
            <a:ext cx="7040880" cy="392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4"/>
              </a:lnSpc>
            </a:pPr>
            <a:r>
              <a:rPr lang="en-US" sz="255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Mengembalikan data dalam bentuk DataFrame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86384" y="7081361"/>
            <a:ext cx="6181344" cy="774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4"/>
              </a:lnSpc>
            </a:pPr>
            <a:r>
              <a:rPr lang="en-US" sz="255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Dilengkapi penanganan error dengan percobaan ulang sekali saat gagal koneksi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8925244" y="634055"/>
            <a:ext cx="8717426" cy="9018889"/>
          </a:xfrm>
          <a:custGeom>
            <a:avLst/>
            <a:gdLst/>
            <a:ahLst/>
            <a:cxnLst/>
            <a:rect r="r" b="b" t="t" l="l"/>
            <a:pathLst>
              <a:path h="9018889" w="8717426">
                <a:moveTo>
                  <a:pt x="0" y="0"/>
                </a:moveTo>
                <a:lnTo>
                  <a:pt x="8717426" y="0"/>
                </a:lnTo>
                <a:lnTo>
                  <a:pt x="8717426" y="9018890"/>
                </a:lnTo>
                <a:lnTo>
                  <a:pt x="0" y="90188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925244" y="634055"/>
            <a:ext cx="8717426" cy="1300906"/>
          </a:xfrm>
          <a:custGeom>
            <a:avLst/>
            <a:gdLst/>
            <a:ahLst/>
            <a:cxnLst/>
            <a:rect r="r" b="b" t="t" l="l"/>
            <a:pathLst>
              <a:path h="1300906" w="8717426">
                <a:moveTo>
                  <a:pt x="0" y="0"/>
                </a:moveTo>
                <a:lnTo>
                  <a:pt x="8717426" y="0"/>
                </a:lnTo>
                <a:lnTo>
                  <a:pt x="8717426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656064" y="2283798"/>
            <a:ext cx="1298448" cy="381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8"/>
              </a:lnSpc>
            </a:pPr>
            <a:r>
              <a:rPr lang="en-US" sz="2465" b="true">
                <a:solidFill>
                  <a:srgbClr val="003C64"/>
                </a:solidFill>
                <a:latin typeface="Roboto Bold"/>
                <a:ea typeface="Roboto Bold"/>
                <a:cs typeface="Roboto Bold"/>
                <a:sym typeface="Roboto Bold"/>
              </a:rPr>
              <a:t>ATRIBUT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656064" y="2957274"/>
            <a:ext cx="1810512" cy="392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4"/>
              </a:lnSpc>
            </a:pPr>
            <a:r>
              <a:rPr lang="en-US" sz="2554" b="true">
                <a:solidFill>
                  <a:srgbClr val="006BCB"/>
                </a:solidFill>
                <a:latin typeface="Roboto Bold"/>
                <a:ea typeface="Roboto Bold"/>
                <a:cs typeface="Roboto Bold"/>
                <a:sym typeface="Roboto Bold"/>
              </a:rPr>
              <a:t>self.api_key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656064" y="3405404"/>
            <a:ext cx="2670048" cy="370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1"/>
              </a:lnSpc>
            </a:pPr>
            <a:r>
              <a:rPr lang="en-US" sz="2384">
                <a:solidFill>
                  <a:srgbClr val="003C64"/>
                </a:solidFill>
                <a:latin typeface="Roboto"/>
                <a:ea typeface="Roboto"/>
                <a:cs typeface="Roboto"/>
                <a:sym typeface="Roboto"/>
              </a:rPr>
              <a:t>menyimpan API key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656064" y="4119705"/>
            <a:ext cx="2249424" cy="392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4"/>
              </a:lnSpc>
            </a:pPr>
            <a:r>
              <a:rPr lang="en-US" sz="2554" b="true">
                <a:solidFill>
                  <a:srgbClr val="006BCB"/>
                </a:solidFill>
                <a:latin typeface="Roboto Bold"/>
                <a:ea typeface="Roboto Bold"/>
                <a:cs typeface="Roboto Bold"/>
                <a:sym typeface="Roboto Bold"/>
              </a:rPr>
              <a:t>self.alamat_api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656064" y="4578122"/>
            <a:ext cx="4663440" cy="370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1"/>
              </a:lnSpc>
            </a:pPr>
            <a:r>
              <a:rPr lang="en-US" sz="2384">
                <a:solidFill>
                  <a:srgbClr val="003C64"/>
                </a:solidFill>
                <a:latin typeface="Roboto"/>
                <a:ea typeface="Roboto"/>
                <a:cs typeface="Roboto"/>
                <a:sym typeface="Roboto"/>
              </a:rPr>
              <a:t>menyimpan alamat endpoint FRED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8925244" y="5356674"/>
            <a:ext cx="8717426" cy="218640"/>
          </a:xfrm>
          <a:custGeom>
            <a:avLst/>
            <a:gdLst/>
            <a:ahLst/>
            <a:cxnLst/>
            <a:rect r="r" b="b" t="t" l="l"/>
            <a:pathLst>
              <a:path h="218640" w="8717426">
                <a:moveTo>
                  <a:pt x="0" y="0"/>
                </a:moveTo>
                <a:lnTo>
                  <a:pt x="8717426" y="0"/>
                </a:lnTo>
                <a:lnTo>
                  <a:pt x="8717426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9656064" y="5915109"/>
            <a:ext cx="1298448" cy="381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8"/>
              </a:lnSpc>
            </a:pPr>
            <a:r>
              <a:rPr lang="en-US" sz="2465" b="true">
                <a:solidFill>
                  <a:srgbClr val="003C64"/>
                </a:solidFill>
                <a:latin typeface="Roboto Bold"/>
                <a:ea typeface="Roboto Bold"/>
                <a:cs typeface="Roboto Bold"/>
                <a:sym typeface="Roboto Bold"/>
              </a:rPr>
              <a:t>METHOD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656064" y="6557724"/>
            <a:ext cx="5943600" cy="392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4"/>
              </a:lnSpc>
            </a:pPr>
            <a:r>
              <a:rPr lang="en-US" sz="2554" b="true">
                <a:solidFill>
                  <a:srgbClr val="006BCB"/>
                </a:solidFill>
                <a:latin typeface="Roboto Bold"/>
                <a:ea typeface="Roboto Bold"/>
                <a:cs typeface="Roboto Bold"/>
                <a:sym typeface="Roboto Bold"/>
              </a:rPr>
              <a:t>ambil_data(series_id, observation_date)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656064" y="7067220"/>
            <a:ext cx="5413248" cy="731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1"/>
              </a:lnSpc>
            </a:pPr>
            <a:r>
              <a:rPr lang="en-US" sz="2384">
                <a:solidFill>
                  <a:srgbClr val="003C64"/>
                </a:solidFill>
                <a:latin typeface="Roboto"/>
                <a:ea typeface="Roboto"/>
                <a:cs typeface="Roboto"/>
                <a:sym typeface="Roboto"/>
              </a:rPr>
              <a:t>memanggil API dan mengembalikan data sebagai DataFrame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9570574" y="7707051"/>
            <a:ext cx="7415828" cy="229572"/>
          </a:xfrm>
          <a:custGeom>
            <a:avLst/>
            <a:gdLst/>
            <a:ahLst/>
            <a:cxnLst/>
            <a:rect r="r" b="b" t="t" l="l"/>
            <a:pathLst>
              <a:path h="229572" w="7415828">
                <a:moveTo>
                  <a:pt x="0" y="0"/>
                </a:moveTo>
                <a:lnTo>
                  <a:pt x="7415828" y="0"/>
                </a:lnTo>
                <a:lnTo>
                  <a:pt x="7415828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9656064" y="8141857"/>
            <a:ext cx="4791456" cy="1091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1"/>
              </a:lnSpc>
            </a:pPr>
            <a:r>
              <a:rPr lang="en-US" sz="2384">
                <a:solidFill>
                  <a:srgbClr val="003C64"/>
                </a:solidFill>
                <a:latin typeface="Roboto"/>
                <a:ea typeface="Roboto"/>
                <a:cs typeface="Roboto"/>
                <a:sym typeface="Roboto"/>
              </a:rPr>
              <a:t>dilengkapi try/except:</a:t>
            </a:r>
          </a:p>
          <a:p>
            <a:pPr algn="l">
              <a:lnSpc>
                <a:spcPts val="2861"/>
              </a:lnSpc>
            </a:pPr>
            <a:r>
              <a:rPr lang="en-US" sz="2384">
                <a:solidFill>
                  <a:srgbClr val="003C64"/>
                </a:solidFill>
                <a:latin typeface="Roboto"/>
                <a:ea typeface="Roboto"/>
                <a:cs typeface="Roboto"/>
                <a:sym typeface="Roboto"/>
              </a:rPr>
              <a:t>jika koneksi gagal, coba ulang sekali sebelum menyerah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832336" y="990828"/>
            <a:ext cx="1389888" cy="621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896"/>
              </a:lnSpc>
            </a:pPr>
            <a:r>
              <a:rPr lang="en-US" sz="4080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class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368528" y="990828"/>
            <a:ext cx="1207008" cy="621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6"/>
              </a:lnSpc>
            </a:pPr>
            <a:r>
              <a:rPr lang="en-US" sz="4080" b="true">
                <a:solidFill>
                  <a:srgbClr val="38B6FF"/>
                </a:solidFill>
                <a:latin typeface="Roboto Bold"/>
                <a:ea typeface="Roboto Bold"/>
                <a:cs typeface="Roboto Bold"/>
                <a:sym typeface="Roboto Bold"/>
              </a:rPr>
              <a:t>Fred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85216" y="1000778"/>
            <a:ext cx="10533888" cy="880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22"/>
              </a:lnSpc>
            </a:pPr>
            <a:r>
              <a:rPr lang="en-US" sz="6522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CUPLIKAN DATASET AKHIR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5330" y="2142670"/>
            <a:ext cx="10467474" cy="1289974"/>
          </a:xfrm>
          <a:custGeom>
            <a:avLst/>
            <a:gdLst/>
            <a:ahLst/>
            <a:cxnLst/>
            <a:rect r="r" b="b" t="t" l="l"/>
            <a:pathLst>
              <a:path h="1289974" w="10467474">
                <a:moveTo>
                  <a:pt x="0" y="0"/>
                </a:moveTo>
                <a:lnTo>
                  <a:pt x="10467474" y="0"/>
                </a:lnTo>
                <a:lnTo>
                  <a:pt x="10467474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45330" y="3214004"/>
            <a:ext cx="10467474" cy="1508614"/>
          </a:xfrm>
          <a:custGeom>
            <a:avLst/>
            <a:gdLst/>
            <a:ahLst/>
            <a:cxnLst/>
            <a:rect r="r" b="b" t="t" l="l"/>
            <a:pathLst>
              <a:path h="1508614" w="10467474">
                <a:moveTo>
                  <a:pt x="0" y="0"/>
                </a:moveTo>
                <a:lnTo>
                  <a:pt x="10467474" y="0"/>
                </a:lnTo>
                <a:lnTo>
                  <a:pt x="1046747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45330" y="4493047"/>
            <a:ext cx="10467474" cy="1508614"/>
          </a:xfrm>
          <a:custGeom>
            <a:avLst/>
            <a:gdLst/>
            <a:ahLst/>
            <a:cxnLst/>
            <a:rect r="r" b="b" t="t" l="l"/>
            <a:pathLst>
              <a:path h="1508614" w="10467474">
                <a:moveTo>
                  <a:pt x="0" y="0"/>
                </a:moveTo>
                <a:lnTo>
                  <a:pt x="10467474" y="0"/>
                </a:lnTo>
                <a:lnTo>
                  <a:pt x="1046747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45330" y="5783021"/>
            <a:ext cx="10467474" cy="1289974"/>
          </a:xfrm>
          <a:custGeom>
            <a:avLst/>
            <a:gdLst/>
            <a:ahLst/>
            <a:cxnLst/>
            <a:rect r="r" b="b" t="t" l="l"/>
            <a:pathLst>
              <a:path h="1289974" w="10467474">
                <a:moveTo>
                  <a:pt x="0" y="0"/>
                </a:moveTo>
                <a:lnTo>
                  <a:pt x="10467474" y="0"/>
                </a:lnTo>
                <a:lnTo>
                  <a:pt x="10467474" y="1289975"/>
                </a:lnTo>
                <a:lnTo>
                  <a:pt x="0" y="12899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45330" y="6854356"/>
            <a:ext cx="10467474" cy="1289974"/>
          </a:xfrm>
          <a:custGeom>
            <a:avLst/>
            <a:gdLst/>
            <a:ahLst/>
            <a:cxnLst/>
            <a:rect r="r" b="b" t="t" l="l"/>
            <a:pathLst>
              <a:path h="1289974" w="10467474">
                <a:moveTo>
                  <a:pt x="0" y="0"/>
                </a:moveTo>
                <a:lnTo>
                  <a:pt x="10467474" y="0"/>
                </a:lnTo>
                <a:lnTo>
                  <a:pt x="10467474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45330" y="8133399"/>
            <a:ext cx="10467474" cy="1300906"/>
          </a:xfrm>
          <a:custGeom>
            <a:avLst/>
            <a:gdLst/>
            <a:ahLst/>
            <a:cxnLst/>
            <a:rect r="r" b="b" t="t" l="l"/>
            <a:pathLst>
              <a:path h="1300906" w="10467474">
                <a:moveTo>
                  <a:pt x="0" y="0"/>
                </a:moveTo>
                <a:lnTo>
                  <a:pt x="10467474" y="0"/>
                </a:lnTo>
                <a:lnTo>
                  <a:pt x="1046747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654842" y="2142670"/>
            <a:ext cx="229694" cy="7291635"/>
          </a:xfrm>
          <a:custGeom>
            <a:avLst/>
            <a:gdLst/>
            <a:ahLst/>
            <a:cxnLst/>
            <a:rect r="r" b="b" t="t" l="l"/>
            <a:pathLst>
              <a:path h="7291635" w="229694">
                <a:moveTo>
                  <a:pt x="0" y="0"/>
                </a:moveTo>
                <a:lnTo>
                  <a:pt x="229694" y="0"/>
                </a:lnTo>
                <a:lnTo>
                  <a:pt x="229694" y="7291635"/>
                </a:lnTo>
                <a:lnTo>
                  <a:pt x="0" y="72916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1923776" y="2930912"/>
            <a:ext cx="3712464" cy="414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8"/>
              </a:lnSpc>
            </a:pPr>
            <a:r>
              <a:rPr lang="en-US" sz="2723" spc="-8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Total baris dataset akhir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923776" y="3821197"/>
            <a:ext cx="3749040" cy="1618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14"/>
              </a:lnSpc>
            </a:pPr>
            <a:r>
              <a:rPr lang="en-US" sz="12114" spc="-363" b="true">
                <a:solidFill>
                  <a:srgbClr val="38B6FF"/>
                </a:solidFill>
                <a:latin typeface="Roboto Bold"/>
                <a:ea typeface="Roboto Bold"/>
                <a:cs typeface="Roboto Bold"/>
                <a:sym typeface="Roboto Bold"/>
              </a:rPr>
              <a:t>3.931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1747196" y="5783021"/>
            <a:ext cx="5895474" cy="218640"/>
          </a:xfrm>
          <a:custGeom>
            <a:avLst/>
            <a:gdLst/>
            <a:ahLst/>
            <a:cxnLst/>
            <a:rect r="r" b="b" t="t" l="l"/>
            <a:pathLst>
              <a:path h="218640" w="5895474">
                <a:moveTo>
                  <a:pt x="0" y="0"/>
                </a:moveTo>
                <a:lnTo>
                  <a:pt x="5895474" y="0"/>
                </a:lnTo>
                <a:lnTo>
                  <a:pt x="5895474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1923776" y="6613658"/>
            <a:ext cx="2157984" cy="414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8"/>
              </a:lnSpc>
            </a:pPr>
            <a:r>
              <a:rPr lang="en-US" sz="2723" spc="-8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Rentang data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923776" y="7360228"/>
            <a:ext cx="5650992" cy="83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14"/>
              </a:lnSpc>
            </a:pPr>
            <a:r>
              <a:rPr lang="en-US" sz="6114" spc="-183" b="true">
                <a:solidFill>
                  <a:srgbClr val="38B6FF"/>
                </a:solidFill>
                <a:latin typeface="Roboto Bold"/>
                <a:ea typeface="Roboto Bold"/>
                <a:cs typeface="Roboto Bold"/>
                <a:sym typeface="Roboto Bold"/>
              </a:rPr>
              <a:t>2011 — sekarang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883110" y="0"/>
            <a:ext cx="5884536" cy="9860652"/>
          </a:xfrm>
          <a:custGeom>
            <a:avLst/>
            <a:gdLst/>
            <a:ahLst/>
            <a:cxnLst/>
            <a:rect r="r" b="b" t="t" l="l"/>
            <a:pathLst>
              <a:path h="9860652" w="5884536">
                <a:moveTo>
                  <a:pt x="0" y="0"/>
                </a:moveTo>
                <a:lnTo>
                  <a:pt x="5884536" y="0"/>
                </a:lnTo>
                <a:lnTo>
                  <a:pt x="5884536" y="9860652"/>
                </a:lnTo>
                <a:lnTo>
                  <a:pt x="0" y="98606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69264" y="917458"/>
            <a:ext cx="8558784" cy="1787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5"/>
              </a:lnSpc>
            </a:pPr>
            <a:r>
              <a:rPr lang="en-US" sz="6865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KEPUTUSAN PEMBERSIHAN DATA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864086" y="2776725"/>
            <a:ext cx="1968804" cy="229572"/>
          </a:xfrm>
          <a:custGeom>
            <a:avLst/>
            <a:gdLst/>
            <a:ahLst/>
            <a:cxnLst/>
            <a:rect r="r" b="b" t="t" l="l"/>
            <a:pathLst>
              <a:path h="229572" w="1968804">
                <a:moveTo>
                  <a:pt x="0" y="0"/>
                </a:moveTo>
                <a:lnTo>
                  <a:pt x="1968804" y="0"/>
                </a:lnTo>
                <a:lnTo>
                  <a:pt x="1968804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69264" y="3376827"/>
            <a:ext cx="2249424" cy="524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87"/>
              </a:lnSpc>
            </a:pPr>
            <a:r>
              <a:rPr lang="en-US" sz="3062" b="true">
                <a:solidFill>
                  <a:srgbClr val="38B6FF"/>
                </a:solidFill>
                <a:latin typeface="Roboto Bold"/>
                <a:ea typeface="Roboto Bold"/>
                <a:cs typeface="Roboto Bold"/>
                <a:sym typeface="Roboto Bold"/>
              </a:rPr>
              <a:t>Nilai kosong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69264" y="4009897"/>
            <a:ext cx="6108192" cy="1212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Hari libur pasar ditandai simbol “.” di FRED Ditangani melalui function bersihkan-nilai() Baris dengan nilai kosong dibuang dari data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864086" y="5356674"/>
            <a:ext cx="8498670" cy="218640"/>
          </a:xfrm>
          <a:custGeom>
            <a:avLst/>
            <a:gdLst/>
            <a:ahLst/>
            <a:cxnLst/>
            <a:rect r="r" b="b" t="t" l="l"/>
            <a:pathLst>
              <a:path h="218640" w="8498670">
                <a:moveTo>
                  <a:pt x="0" y="0"/>
                </a:moveTo>
                <a:lnTo>
                  <a:pt x="8498670" y="0"/>
                </a:lnTo>
                <a:lnTo>
                  <a:pt x="8498670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69264" y="5783985"/>
            <a:ext cx="2414016" cy="524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87"/>
              </a:lnSpc>
            </a:pPr>
            <a:r>
              <a:rPr lang="en-US" sz="3062" b="true">
                <a:solidFill>
                  <a:srgbClr val="38B6FF"/>
                </a:solidFill>
                <a:latin typeface="Roboto Bold"/>
                <a:ea typeface="Roboto Bold"/>
                <a:cs typeface="Roboto Bold"/>
                <a:sym typeface="Roboto Bold"/>
              </a:rPr>
              <a:t>Data kembar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69264" y="6413557"/>
            <a:ext cx="4754880" cy="807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Dicek berdasarkan kolom Tanggal</a:t>
            </a:r>
          </a:p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Tidak ditemukan data kembar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864086" y="7280704"/>
            <a:ext cx="8498670" cy="229572"/>
          </a:xfrm>
          <a:custGeom>
            <a:avLst/>
            <a:gdLst/>
            <a:ahLst/>
            <a:cxnLst/>
            <a:rect r="r" b="b" t="t" l="l"/>
            <a:pathLst>
              <a:path h="229572" w="8498670">
                <a:moveTo>
                  <a:pt x="0" y="0"/>
                </a:moveTo>
                <a:lnTo>
                  <a:pt x="8498670" y="0"/>
                </a:lnTo>
                <a:lnTo>
                  <a:pt x="8498670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69264" y="7769376"/>
            <a:ext cx="1755648" cy="524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87"/>
              </a:lnSpc>
            </a:pPr>
            <a:r>
              <a:rPr lang="en-US" sz="3062" b="true">
                <a:solidFill>
                  <a:srgbClr val="38B6FF"/>
                </a:solidFill>
                <a:latin typeface="Roboto Bold"/>
                <a:ea typeface="Roboto Bold"/>
                <a:cs typeface="Roboto Bold"/>
                <a:sym typeface="Roboto Bold"/>
              </a:rPr>
              <a:t>Tipe data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69264" y="8412733"/>
            <a:ext cx="8339328" cy="1212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Tanggal diubah ke datetime64 via ubah_ke_tanggal()</a:t>
            </a:r>
          </a:p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Nilai diubah ke float64 via ubah_ke_angka() </a:t>
            </a:r>
          </a:p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Memastikan data dapat dihitung dan diurutkan dengan benar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DAHWBTxDflc</dc:identifier>
  <dcterms:modified xsi:type="dcterms:W3CDTF">2011-08-01T06:04:30Z</dcterms:modified>
  <cp:revision>1</cp:revision>
  <dc:title>FRED Data Finance</dc:title>
</cp:coreProperties>
</file>